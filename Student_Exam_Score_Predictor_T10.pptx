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3" r:id="rId9"/>
    <p:sldId id="354" r:id="rId10"/>
    <p:sldId id="358" r:id="rId11"/>
    <p:sldId id="355" r:id="rId12"/>
    <p:sldId id="356" r:id="rId13"/>
    <p:sldId id="332" r:id="rId14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 varScale="1">
        <p:scale>
          <a:sx n="85" d="100"/>
          <a:sy n="85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15-09-2026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15-09-2026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15-09-2026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15-09-2026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15-09-2026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15-09-2026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15-09-2026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15-09-2026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15-09-2026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10082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/>
              <a:t>ENGINEERING CAPSTONE PROJECT – 1/INDUSTRIAL INTERNSHIP/</a:t>
            </a:r>
            <a:br/>
            <a:r>
              <a:rPr sz="2400" b="1"/>
              <a:t>INDUSTRIAL INTERNSHIP PHASE-I</a:t>
            </a:r>
            <a:br/>
            <a:br/>
            <a:r>
              <a:rPr sz="2400" b="1"/>
              <a:t>Student Exam Score Predictor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265079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1800" b="1" dirty="0"/>
              <a:t>Team No- ______</a:t>
            </a:r>
            <a:br>
              <a:rPr dirty="0"/>
            </a:br>
            <a:br>
              <a:rPr dirty="0"/>
            </a:br>
            <a:r>
              <a:rPr sz="1800" b="1" dirty="0"/>
              <a:t>2420030500  P Aashish</a:t>
            </a:r>
            <a:br>
              <a:rPr dirty="0"/>
            </a:br>
            <a:r>
              <a:rPr sz="1800" b="1" dirty="0"/>
              <a:t>2420030518  Aayush Sinha</a:t>
            </a:r>
            <a:br>
              <a:rPr dirty="0"/>
            </a:br>
            <a:r>
              <a:rPr sz="1800" b="1" dirty="0"/>
              <a:t>2420030151  Sk abdul sabbir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788172"/>
            <a:ext cx="10737524" cy="1380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600" b="0" dirty="0"/>
              <a:t>Under the Guidance of</a:t>
            </a:r>
            <a:br>
              <a:rPr dirty="0"/>
            </a:br>
            <a:r>
              <a:rPr sz="1600" b="0" dirty="0"/>
              <a:t>DR. N. SUNANDA</a:t>
            </a:r>
            <a:br>
              <a:rPr dirty="0"/>
            </a:br>
            <a:r>
              <a:rPr sz="1600" b="0" dirty="0"/>
              <a:t>Project Guide</a:t>
            </a:r>
            <a:br>
              <a:rPr dirty="0"/>
            </a:br>
            <a:r>
              <a:rPr sz="1600" b="0" dirty="0"/>
              <a:t>Department of Computer Science and Engineering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13686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sz="2200"/>
              <a:t>1. Introduction</a:t>
            </a:r>
            <a:br/>
            <a:r>
              <a:rPr sz="2200"/>
              <a:t>2. Problem Statement</a:t>
            </a:r>
            <a:br/>
            <a:r>
              <a:rPr sz="2200"/>
              <a:t>3. Objectives</a:t>
            </a:r>
            <a:br/>
            <a:r>
              <a:rPr sz="2200"/>
              <a:t>4. Literature Survey</a:t>
            </a:r>
            <a:br/>
            <a:r>
              <a:rPr sz="2200"/>
              <a:t>5. Research Gap Identification</a:t>
            </a:r>
            <a:br/>
            <a:r>
              <a:rPr sz="2200"/>
              <a:t>6. Innovation, Creativity, and Novelty</a:t>
            </a:r>
            <a:br/>
            <a:r>
              <a:rPr sz="2200"/>
              <a:t>7. Feasibility and Project Plan</a:t>
            </a:r>
            <a:br/>
            <a:r>
              <a:rPr sz="2200"/>
              <a:t>8. Conclusion</a:t>
            </a:r>
            <a:br/>
            <a:r>
              <a:rPr sz="2200"/>
              <a:t>9. References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2400" dirty="0"/>
              <a:t>• Student exam performance is influenced by academic, behavioral and personal factors.</a:t>
            </a:r>
            <a:br>
              <a:rPr sz="2400" dirty="0"/>
            </a:br>
            <a:r>
              <a:rPr sz="2400" dirty="0"/>
              <a:t>• Teachers may not be able to manually combine study hours, attendance, previous marks, assignments and participation at an early stage.</a:t>
            </a:r>
            <a:br>
              <a:rPr sz="2400" dirty="0"/>
            </a:br>
            <a:r>
              <a:rPr sz="2400" dirty="0"/>
              <a:t>• The proposed system uses data preprocessing, feature selection and machine-learning models to estimate a student’s expected exam score.</a:t>
            </a:r>
            <a:br>
              <a:rPr sz="2400" dirty="0"/>
            </a:br>
            <a:r>
              <a:rPr sz="2400" dirty="0"/>
              <a:t>• The prediction can support students in identifying improvement areas and help teachers provide timely academic support.</a:t>
            </a:r>
            <a:br>
              <a:rPr sz="2400" dirty="0"/>
            </a:br>
            <a:r>
              <a:rPr sz="2400" dirty="0"/>
              <a:t>• Educational Data Mining (EDM) literature shows that prediction can support personalized education and early intervention [1–3].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 dirty="0"/>
              <a:t>Teachers need an early and data-driven way to estimate a student’s future exam performance from information that is available before the final examination.</a:t>
            </a:r>
            <a:br>
              <a:rPr sz="2400" dirty="0"/>
            </a:br>
            <a:br>
              <a:rPr sz="2400" dirty="0"/>
            </a:br>
            <a:r>
              <a:rPr sz="2400" dirty="0"/>
              <a:t>Existing studies demonstrate strong results from classification, regression and ensemble methods, but they also report limitations such as restricted datasets, limited feature availability, model-complexity/interpretability trade-offs, and inconsistent comparisons across datasets.</a:t>
            </a:r>
            <a:br>
              <a:rPr sz="2400" dirty="0"/>
            </a:br>
            <a:br>
              <a:rPr sz="2400" dirty="0"/>
            </a:br>
            <a:r>
              <a:rPr sz="2400" dirty="0"/>
              <a:t>Therefore, this project aims to develop a practical Student Exam Score Predictor using relevant academic and behavioral attributes and compare suitable machine-learning models to generate an estimated exam score</a:t>
            </a:r>
            <a:r>
              <a:rPr sz="17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2A5F-1F53-48C8-B0D9-C0201331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2400" dirty="0"/>
              <a:t>1. Collect and prepare student academic/behavioral data for prediction.</a:t>
            </a:r>
            <a:br>
              <a:rPr sz="2400" dirty="0"/>
            </a:br>
            <a:r>
              <a:rPr sz="2400" dirty="0"/>
              <a:t>2. Clean missing, duplicate and outlier records and transform relevant features.</a:t>
            </a:r>
            <a:br>
              <a:rPr sz="2400" dirty="0"/>
            </a:br>
            <a:r>
              <a:rPr sz="2400" dirty="0"/>
              <a:t>3. Select important predictors such as previous marks, study hours, attendance, assignment scores and participation.</a:t>
            </a:r>
            <a:br>
              <a:rPr sz="2400" dirty="0"/>
            </a:br>
            <a:r>
              <a:rPr sz="2400" dirty="0"/>
              <a:t>4. Train and compare suitable machine-learning models for exam-score prediction.</a:t>
            </a:r>
            <a:br>
              <a:rPr sz="2400" dirty="0"/>
            </a:br>
            <a:r>
              <a:rPr sz="2400" dirty="0"/>
              <a:t>5. Evaluate model performance using appropriate regression/classification metrics.</a:t>
            </a:r>
            <a:br>
              <a:rPr sz="2400" dirty="0"/>
            </a:br>
            <a:r>
              <a:rPr sz="2400" dirty="0"/>
              <a:t>6. Provide an interpretable estimated score that can help identify students needing academic support.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36526"/>
            <a:ext cx="10173182" cy="41870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634" y="603269"/>
            <a:ext cx="9991165" cy="418707"/>
          </a:xfrm>
        </p:spPr>
        <p:txBody>
          <a:bodyPr>
            <a:normAutofit fontScale="92500"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/>
              <a:t>Selected literature (17 papers, 2020 onwards). The three supplied papers are the core literature; additional relevant studies are drawn from their reviewed references to satisfy the template requirement.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43738"/>
              </p:ext>
            </p:extLst>
          </p:nvPr>
        </p:nvGraphicFramePr>
        <p:xfrm>
          <a:off x="806824" y="1000093"/>
          <a:ext cx="10965556" cy="583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99356">
                <a:tc>
                  <a:txBody>
                    <a:bodyPr/>
                    <a:lstStyle/>
                    <a:p>
                      <a:pPr algn="ctr"/>
                      <a:r>
                        <a:rPr sz="700" b="1" dirty="0" err="1"/>
                        <a:t>Sl</a:t>
                      </a:r>
                      <a:r>
                        <a:rPr sz="700" b="1" dirty="0"/>
                        <a:t> No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/>
                        <a:t>Year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Authors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Title of the paper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Source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Objective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Techniques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Dataset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Parameters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Inference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Research Gap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/>
                        <a:t>DOI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 dirty="0"/>
                        <a:t>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Zhang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Educational Data Mining Techniques for Student Performance Prediction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Frontiers in Psychology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Review SPP methods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ML/DM review; feature selection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1,325 students; 832 courses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Student/course features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Five-stage SPP framework; feature selection improves prediction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Need fair comparisons, educational priors and explainability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10.3389/fpsyg.2021.698490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42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2022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/>
                        <a:t>Alwarthan</a:t>
                      </a:r>
                      <a:r>
                        <a:rPr sz="700" b="0" dirty="0"/>
                        <a:t>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Predicting Student Academic Performance at Higher Education Using Data Mining: A Systematic Review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Applied Computational Intelligence and Soft Computing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Review recent SPP studies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DT, NB, ANN, SVM, KNN, RF, ensembles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45 reviewed studies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Academic, demographic, behavioral features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RF/ensemble often strong; university features most common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Admission-effect disagreement; few arts/humanities studies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10.1155/2022/8924028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3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2024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Khairy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Prediction of student exam performance using data mining classification algorithms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Education and Information Technologies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Find best classifier for exam performance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RF, DT, NB, NN, KNN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830 records; 70/30 split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Year, midterm, practical, writing, final total, grade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 &amp; DT: 98.7% test accuracy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Limited features/data; limited algorithm set; privacy constraints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10.1007/s10639-024-12619-w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4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2022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/>
                        <a:t>Yağcı</a:t>
                      </a:r>
                      <a:endParaRPr sz="700" b="0" dirty="0"/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Educational data mining: prediction of students’ academic performance using machine learning algorithms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Smart Learning Environments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 final exam grades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RF, SVM, LR, NB, ANN, KNN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1,854 Turkish Language-I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Midterm, department, faculty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RF/ANN: 74%; AUC 86%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Course-specific dataset; score-range classification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10.1186/s40561-022-00192-z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5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Sahlaoui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Predicting and interpreting student performance using ensemble models and SHAP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IEEE Access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Improve prediction and interpretability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Ensemble ML + SHAP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Educational student dataset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Academic/student attributes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Ensemble models + explanation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Need interpretable prediction for decision makers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10.1109/ACCESS.2021.3124270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6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Adnan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Predicting At-Risk Students at Different Percentages of Course Length for Early Intervention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IEEE Access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Early prediction of at-risk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 and other ML/DL models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OULAD; 32,593 records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Assessment, clickstream, time variables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 performance improved as course progressed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Earlier intervention with sparse data remains challenging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10.1109/ACCESS.2021.3049446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7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Injadat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Multi-split optimized bagging ensemble model selection for multi-class EDM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Applied Intelligence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Predict performance at 20%/50% course stages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Optimized bagging ensemble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Two undergraduate datasets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Assignments, quizzes, exams, course activity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Bagging achieved strong early-stage accuracy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Dataset-specific model selection/generalization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10.1007/s10489-020-01776-3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8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Salah Hashim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Student performance prediction model based on supervised machine learning algorithms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IOP MSE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 pass/fail performance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NB, DT, LR, SVM, KNN, SMO, ANN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499 CS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Gender, DOB, employment, activity/exam grades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LR performed best for pass/fail classes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Data cleaning/features/dataset size affect accuracy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10.1088/1757-899X/928/3/032019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9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Veerasamy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Using early assessment performance as early warning signs to identify at-risk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IEEE FIE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Identify at-risk programming students early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Random Forest ensemble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289 programming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First two weeks: exercise/homework grades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Early assessment can flag risk; test accuracy 59.64%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Very early signals may be noisy/overfit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10.1109/FIE44824.2020.9274277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Santos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EvolveDTree: Analyzing Student Dropout in Universities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IEEE IWSSIP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 university dropout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Decision Tree + Genetic Algorithm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University dropout records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GPA, enrollment duration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F-score/accuracy above 95%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Focused on dropout rather than continuous exam-score prediction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10.1109/IWSSIP48289.2020.9145203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2022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Niyogisubizo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Predicting student’s dropout in university classes using two-layer ensemble ML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Computers &amp; Education: AI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 dropout using stacked ensemble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RF, XGBoost, GB, FNN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261 university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Access, tests, exams, assignments, academic year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Stacked ensemble achieved 92.18% accuracy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Rare/small datasets; broader generalization needed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10.1016/j.caeai.2022.100066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12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Bello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Using ML methods to identify significant variables for first-year Informatics Engineering dropout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IEEE SCCC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Identify influential dropout variables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RF/feature importance + DT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206 first-year students; 40 features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First-semester academic + demographics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Feature selection reduced inputs; test accuracy 81.01%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Overfitting observed; feature availability varies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10.1109/SCCC51225.2020.9281280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13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Gil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 data-driven approach to predict first-year students’ academic success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Education and Information Technologies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 first-year success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SVM + feature selection/sensitivity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9,652 students; 10 academic years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68 selected socio-demographic/education features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SVM best overall among tested models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Large feature sets and staged prediction add complexity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10.1007/s10639-020-10346-6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14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Huynh-Cam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Using Decision Trees and Random Forest Algorithms to Predict... Learning Performance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Algorithms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Early prediction using pre-semester variables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CART, C5.0, RF, MLP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2,407 freshmen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Family background, department, admission status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CART about 80%; key factors identified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Pre-semester variables may not capture study behavior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10.3390/a14110318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15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2021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Zeineddine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Enhancing prediction of student success: Automated machine learning approach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Computers &amp; Electrical Engineering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Optimize early student-success prediction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AutoML + ensemble models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Pre-admission student data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Admission/pre-entry attributes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AutoML identifies effective model/hyperparameters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Need broader datasets and transferability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10.1016/j.compeleceng.2020.106903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16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Nuankaew &amp; Thongkam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Improving student academic performance prediction models using feature selection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ECTI-CON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Improve prediction with feature selection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NB, SMO, ANN, KNN, trees, RF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9,458 university students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Academic performance attributes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RF improved precision/recall/F1 after processing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Class imbalance/misclassification require careful handling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10.1109/ECTI-CON49241.2020.9158286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419"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17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/>
                        <a:t>2020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Doleck et al.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Predictive analytics in education: a comparison of deep learning frameworks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Education and Information Technologies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Compare deep-learning frameworks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Keras, Theano, TensorFlow, fast.ai, PyTorch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Two educational datasets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Video-viewing/student characteristics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/>
                        <a:t>Deep learning comparable to traditional ML; optimizer matters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Interpretability should be prioritized</a:t>
                      </a:r>
                    </a:p>
                  </a:txBody>
                  <a:tcPr marL="7315" marR="7315" marT="2743" marB="274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/>
                        <a:t>10.1007/s10639-019-10068-4</a:t>
                      </a:r>
                    </a:p>
                  </a:txBody>
                  <a:tcPr marL="7315" marR="7315" marT="2743" marB="2743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120996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/>
              <a:t>The supplied studies show strong predictive potential, but practical deployment still needs broader features, robust validation and interpretable outputs.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F1EDB7-8761-CEC4-B291-FF5C19314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638237"/>
              </p:ext>
            </p:extLst>
          </p:nvPr>
        </p:nvGraphicFramePr>
        <p:xfrm>
          <a:off x="618565" y="2743200"/>
          <a:ext cx="10948595" cy="3827856"/>
        </p:xfrm>
        <a:graphic>
          <a:graphicData uri="http://schemas.openxmlformats.org/drawingml/2006/table">
            <a:tbl>
              <a:tblPr/>
              <a:tblGrid>
                <a:gridCol w="432995">
                  <a:extLst>
                    <a:ext uri="{9D8B030D-6E8A-4147-A177-3AD203B41FA5}">
                      <a16:colId xmlns:a16="http://schemas.microsoft.com/office/drawing/2014/main" val="8335550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88119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963808402"/>
                    </a:ext>
                  </a:extLst>
                </a:gridCol>
                <a:gridCol w="1642334">
                  <a:extLst>
                    <a:ext uri="{9D8B030D-6E8A-4147-A177-3AD203B41FA5}">
                      <a16:colId xmlns:a16="http://schemas.microsoft.com/office/drawing/2014/main" val="7160780"/>
                    </a:ext>
                  </a:extLst>
                </a:gridCol>
                <a:gridCol w="2426746">
                  <a:extLst>
                    <a:ext uri="{9D8B030D-6E8A-4147-A177-3AD203B41FA5}">
                      <a16:colId xmlns:a16="http://schemas.microsoft.com/office/drawing/2014/main" val="315075706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3069808396"/>
                    </a:ext>
                  </a:extLst>
                </a:gridCol>
              </a:tblGrid>
              <a:tr h="374408">
                <a:tc>
                  <a:txBody>
                    <a:bodyPr/>
                    <a:lstStyle/>
                    <a:p>
                      <a:r>
                        <a:rPr sz="1400" b="1"/>
                        <a:t>S.No.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Paper Title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Author Name(s)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Methodology / Model Used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Key Findings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Research Gap Identified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430168"/>
                  </a:ext>
                </a:extLst>
              </a:tr>
              <a:tr h="695329"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Prediction of student exam performance using data mining classification algorithms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Khairy et al.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RF, DT, NB, NN, KNN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RF &amp; DT reached 98.7% test accuracy.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Limited dataset/features due privacy and limited classifiers.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18778"/>
                  </a:ext>
                </a:extLst>
              </a:tr>
              <a:tr h="534869">
                <a:tc>
                  <a:txBody>
                    <a:bodyPr/>
                    <a:lstStyle/>
                    <a:p>
                      <a:r>
                        <a:rPr sz="1400" b="0"/>
                        <a:t>2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Predicting Student Academic Performance at Higher Education Using Data Mining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Alwarthan et al.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Systematic review of 45 studies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RF and ensemble models frequently performed strongly; university features were common.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Conflicting evidence on admission requirements; under-representation of arts/humanities.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268322"/>
                  </a:ext>
                </a:extLst>
              </a:tr>
              <a:tr h="695329">
                <a:tc>
                  <a:txBody>
                    <a:bodyPr/>
                    <a:lstStyle/>
                    <a:p>
                      <a:r>
                        <a:rPr sz="1400" b="0"/>
                        <a:t>3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Educational Data Mining Techniques for Student Performance Prediction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Zhang et al.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Five-stage SPP framework; ML/DM comparison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Feature selection improves SPP; explanation is important for educational use.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Need fair validated comparisons, educational priors, explainability and practical personalized systems.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177523"/>
                  </a:ext>
                </a:extLst>
              </a:tr>
              <a:tr h="374408"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071143"/>
                  </a:ext>
                </a:extLst>
              </a:tr>
              <a:tr h="374408"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651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530352"/>
            <a:ext cx="9784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latin typeface="Times New Roman"/>
              </a:defRPr>
            </a:pPr>
            <a:r>
              <a:t>Innovation, Creativity, and 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08760"/>
            <a:ext cx="5074920" cy="4548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  <a:defRPr sz="1700" b="0">
                <a:latin typeface="Arial"/>
              </a:defRPr>
            </a:pPr>
            <a:r>
              <a:rPr dirty="0"/>
              <a:t>Innovation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Predict an estimated exam score from multiple early academic and behavioral inputs rather than only pass/fail.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Compare multiple ML models and select the best model for the project dataset.</a:t>
            </a:r>
          </a:p>
          <a:p>
            <a:pPr>
              <a:spcAft>
                <a:spcPts val="800"/>
              </a:spcAft>
            </a:pPr>
            <a:endParaRPr dirty="0"/>
          </a:p>
          <a:p>
            <a:pPr>
              <a:spcAft>
                <a:spcPts val="400"/>
              </a:spcAft>
              <a:defRPr sz="1700" b="0">
                <a:latin typeface="Arial"/>
              </a:defRPr>
            </a:pPr>
            <a:r>
              <a:rPr dirty="0"/>
              <a:t>Creativity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Combine previous marks, study hours, attendance, assignment scores and participation in one workflow.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Use preprocessing and feature selection to reduce noise and improve reliability.</a:t>
            </a:r>
          </a:p>
          <a:p>
            <a:pPr>
              <a:spcAft>
                <a:spcPts val="800"/>
              </a:spcAft>
            </a:pPr>
            <a:endParaRPr dirty="0"/>
          </a:p>
          <a:p>
            <a:pPr>
              <a:spcAft>
                <a:spcPts val="400"/>
              </a:spcAft>
              <a:defRPr sz="1700" b="0">
                <a:latin typeface="Arial"/>
              </a:defRPr>
            </a:pPr>
            <a:r>
              <a:rPr dirty="0"/>
              <a:t>Novelty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Translate literature findings into a simple, student-focused prediction tool for early academic intervention.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350">
                <a:latin typeface="Arial"/>
              </a:defRPr>
            </a:pPr>
            <a:r>
              <a:rPr dirty="0"/>
              <a:t>• Emphasize interpretable factors so students and teachers can understand influences on the predicted score.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18288" cy="452628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39840" y="1291416"/>
            <a:ext cx="4883972" cy="4765512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27632"/>
            <a:ext cx="4114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Analytical Example (Illustrative)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488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Arial"/>
              </a:defRPr>
            </a:pPr>
            <a:r>
              <a:t>Previous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48840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latin typeface="Arial"/>
              </a:defRPr>
            </a:pPr>
            <a:r>
              <a:t>72 /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87752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Arial"/>
              </a:defRPr>
            </a:pPr>
            <a:r>
              <a:t>Study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58775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latin typeface="Arial"/>
              </a:defRPr>
            </a:pPr>
            <a:r>
              <a:t>4 h/day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026664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Arial"/>
              </a:defRPr>
            </a:pPr>
            <a:r>
              <a:t>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026664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latin typeface="Arial"/>
              </a:defRPr>
            </a:pPr>
            <a: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46557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Arial"/>
              </a:defRPr>
            </a:pPr>
            <a:r>
              <a:t>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65576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latin typeface="Arial"/>
              </a:defRPr>
            </a:pPr>
            <a:r>
              <a:t>80 /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904487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latin typeface="Arial"/>
              </a:defRPr>
            </a:pPr>
            <a:r>
              <a:t>Participation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904487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latin typeface="Arial"/>
              </a:defRPr>
            </a:pPr>
            <a:r>
              <a:t>75 /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70832"/>
            <a:ext cx="4114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latin typeface="Arial"/>
              </a:defRPr>
            </a:pPr>
            <a:r>
              <a:t>Inputs → preprocessing → trained ML model → score estimate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4983480"/>
            <a:ext cx="2834640" cy="658368"/>
          </a:xfrm>
          <a:prstGeom prst="roundRect">
            <a:avLst/>
          </a:prstGeom>
          <a:solidFill>
            <a:srgbClr val="EBEBEB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sz="1400" b="1">
                <a:solidFill>
                  <a:srgbClr val="000000"/>
                </a:solidFill>
              </a:rPr>
              <a:t>Predicted score ≈ 78 / 100   |   Good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71500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Illustrative example only; 78/100 is not a reported project result.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0C162-AAFF-57D0-C6FC-922499511FB9}"/>
              </a:ext>
            </a:extLst>
          </p:cNvPr>
          <p:cNvSpPr txBox="1"/>
          <p:nvPr/>
        </p:nvSpPr>
        <p:spPr>
          <a:xfrm>
            <a:off x="994611" y="2009408"/>
            <a:ext cx="92242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Feasibility</a:t>
            </a:r>
            <a:br>
              <a:rPr dirty="0"/>
            </a:br>
            <a:r>
              <a:rPr dirty="0"/>
              <a:t>• Data: student academic/behavioral records; public educational datasets can support initial experimentation.</a:t>
            </a:r>
            <a:br>
              <a:rPr dirty="0"/>
            </a:br>
            <a:r>
              <a:rPr dirty="0"/>
              <a:t>• Tools: Python, pandas, NumPy, scikit-learn, Jupyter/Google </a:t>
            </a:r>
            <a:r>
              <a:rPr dirty="0" err="1"/>
              <a:t>Colab</a:t>
            </a:r>
            <a:r>
              <a:rPr dirty="0"/>
              <a:t> and visualization libraries.</a:t>
            </a:r>
            <a:br>
              <a:rPr dirty="0"/>
            </a:br>
            <a:r>
              <a:rPr dirty="0"/>
              <a:t>• Models: Linear Regression, Random Forest, Decision Tree and other suitable baselines.</a:t>
            </a:r>
            <a:br>
              <a:rPr dirty="0"/>
            </a:br>
            <a:r>
              <a:rPr dirty="0"/>
              <a:t>• Resources: standard laptop/PC is sufficient for classical ML models.</a:t>
            </a:r>
            <a:br>
              <a:rPr dirty="0"/>
            </a:br>
            <a:br>
              <a:rPr dirty="0"/>
            </a:br>
            <a:r>
              <a:rPr dirty="0"/>
              <a:t>Project Plan</a:t>
            </a:r>
            <a:br>
              <a:rPr dirty="0"/>
            </a:br>
            <a:r>
              <a:rPr dirty="0"/>
              <a:t>Phase 1 – Literature survey &amp; dataset identification</a:t>
            </a:r>
            <a:br>
              <a:rPr dirty="0"/>
            </a:br>
            <a:r>
              <a:rPr dirty="0"/>
              <a:t>Phase 2 – Data cleaning, preprocessing &amp; exploratory analysis</a:t>
            </a:r>
            <a:br>
              <a:rPr dirty="0"/>
            </a:br>
            <a:r>
              <a:rPr dirty="0"/>
              <a:t>Phase 3 – Feature selection &amp; model development</a:t>
            </a:r>
            <a:br>
              <a:rPr dirty="0"/>
            </a:br>
            <a:r>
              <a:rPr dirty="0"/>
              <a:t>Phase 4 – Model comparison &amp; evaluation</a:t>
            </a:r>
            <a:br>
              <a:rPr dirty="0"/>
            </a:br>
            <a:r>
              <a:rPr dirty="0"/>
              <a:t>Phase 5 – Prediction interface, testing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700" dirty="0"/>
              <a:t>• </a:t>
            </a:r>
            <a:r>
              <a:rPr sz="2400" dirty="0"/>
              <a:t>Research literature confirms that machine learning and educational data mining can predict student performance and support early intervention.</a:t>
            </a:r>
            <a:br>
              <a:rPr sz="2400" dirty="0"/>
            </a:br>
            <a:r>
              <a:rPr sz="2400" dirty="0"/>
              <a:t>• Random Forest, Decision Trees and ensemble approaches repeatedly show strong performance, while feature selection and preprocessing are important.</a:t>
            </a:r>
            <a:br>
              <a:rPr sz="2400" dirty="0"/>
            </a:br>
            <a:r>
              <a:rPr sz="2400" dirty="0"/>
              <a:t>• The proposed Student Exam Score Predictor will focus on practical inputs such as previous marks, study hours, attendance, assignments and participation.</a:t>
            </a:r>
            <a:br>
              <a:rPr sz="2400" dirty="0"/>
            </a:br>
            <a:r>
              <a:rPr sz="2400" dirty="0"/>
              <a:t>• Next steps: finalize dataset, implement preprocessing, train candidate models, compare metrics, and develop the prediction interface.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900" dirty="0"/>
              <a:t>[</a:t>
            </a:r>
            <a:r>
              <a:rPr sz="1000" dirty="0"/>
              <a:t>1] Y. Zhang, Y. Yun, R. An, J. Cui, H. Dai, X. Shang, “Educational Data Mining Techniques for Student Performance Prediction: Method Review and Comparison Analysis,” Front. Psychol., 12, 698490, 2021. doi:10.3389/fpsyg.2021.698490.</a:t>
            </a:r>
            <a:br>
              <a:rPr sz="1000" dirty="0"/>
            </a:br>
            <a:r>
              <a:rPr sz="1000" dirty="0"/>
              <a:t>[2] S. A. </a:t>
            </a:r>
            <a:r>
              <a:rPr sz="1000" dirty="0" err="1"/>
              <a:t>Alwarthan</a:t>
            </a:r>
            <a:r>
              <a:rPr sz="1000" dirty="0"/>
              <a:t>, N. Aslam, I. U. Khan, “Predicting Student Academic Performance at Higher Education Using Data Mining: A Systematic Review,” Applied Computational Intelligence and Soft Computing, 2022, 8924028. doi:10.1155/2022/8924028.</a:t>
            </a:r>
            <a:br>
              <a:rPr sz="1000" dirty="0"/>
            </a:br>
            <a:r>
              <a:rPr sz="1000" dirty="0"/>
              <a:t>[3] D. Khairy, N. Alharbi, M. A. Amasha, M. F. </a:t>
            </a:r>
            <a:r>
              <a:rPr sz="1000" dirty="0" err="1"/>
              <a:t>Areed</a:t>
            </a:r>
            <a:r>
              <a:rPr sz="1000" dirty="0"/>
              <a:t>, S. Alkhalaf, R. A. </a:t>
            </a:r>
            <a:r>
              <a:rPr sz="1000" dirty="0" err="1"/>
              <a:t>Abougalala</a:t>
            </a:r>
            <a:r>
              <a:rPr sz="1000" dirty="0"/>
              <a:t>, “Prediction of student exam performance using data mining classification algorithms,” Education and Information Technologies, 29, 21621–21645, 2024. doi:10.1007/s10639-024-12619-w.</a:t>
            </a:r>
            <a:br>
              <a:rPr sz="1000" dirty="0"/>
            </a:br>
            <a:r>
              <a:rPr sz="1000" dirty="0"/>
              <a:t>[4] M. </a:t>
            </a:r>
            <a:r>
              <a:rPr sz="1000" dirty="0" err="1"/>
              <a:t>Yağcı</a:t>
            </a:r>
            <a:r>
              <a:rPr sz="1000" dirty="0"/>
              <a:t>, “Educational data mining: prediction of students’ academic performance using machine learning algorithms,” Smart Learning Environments, 9, 11, 2022. doi:10.1186/s40561-022-00192-z.</a:t>
            </a:r>
            <a:br>
              <a:rPr sz="1000" dirty="0"/>
            </a:br>
            <a:r>
              <a:rPr sz="1000" dirty="0"/>
              <a:t>[5] H. </a:t>
            </a:r>
            <a:r>
              <a:rPr sz="1000" dirty="0" err="1"/>
              <a:t>Sahlaoui</a:t>
            </a:r>
            <a:r>
              <a:rPr sz="1000" dirty="0"/>
              <a:t> et al., “Predicting and Interpreting Student Performance Using Ensemble Models and Shapley Additive Explanations,” IEEE Access, 9, 152688–152703, 2021. doi:10.1109/ACCESS.2021.3124270.</a:t>
            </a:r>
            <a:br>
              <a:rPr sz="1000" dirty="0"/>
            </a:br>
            <a:r>
              <a:rPr sz="1000" dirty="0"/>
              <a:t>[6] M. Adnan et al., “Predicting At-Risk Students at Different Percentages of Course Length for Early Intervention Using Machine Learning Models,” IEEE Access, 9, 7519–7539, 2021. doi:10.1109/ACCESS.2021.3049446.</a:t>
            </a:r>
            <a:br>
              <a:rPr sz="1000" dirty="0"/>
            </a:br>
            <a:r>
              <a:rPr sz="1000" dirty="0"/>
              <a:t>[7] M. N. </a:t>
            </a:r>
            <a:r>
              <a:rPr sz="1000" dirty="0" err="1"/>
              <a:t>Injadat</a:t>
            </a:r>
            <a:r>
              <a:rPr sz="1000" dirty="0"/>
              <a:t> et al., “Multi-split optimized bagging ensemble model selection for multi-class educational data mining,” Applied Intelligence, 50, 4506–4528, 2020. doi:10.1007/s10489-020-01776-3.</a:t>
            </a:r>
            <a:br>
              <a:rPr sz="1000" dirty="0"/>
            </a:br>
            <a:r>
              <a:rPr sz="1000" dirty="0"/>
              <a:t>[8] A. Salah Hashim, W. A. Awadh, A. K. Hamoud, “Student performance prediction model based on supervised machine learning algorithms,” IOP MSE, 928, 032019, 2020. doi:10.1088/1757-899X/928/3/032019.</a:t>
            </a:r>
            <a:br>
              <a:rPr sz="1000" dirty="0"/>
            </a:br>
            <a:r>
              <a:rPr sz="1000" dirty="0"/>
              <a:t>[9] A. K. Veerasamy et al., “Using early assessment performance as early warning signs to identify at-risk students in programming courses,” IEEE FIE, 2020. doi:10.1109/FIE44824.2020.9274277.</a:t>
            </a:r>
            <a:br>
              <a:rPr sz="1000" dirty="0"/>
            </a:br>
            <a:r>
              <a:rPr sz="1000" dirty="0"/>
              <a:t>[10] G. A. S. Santos et al., “</a:t>
            </a:r>
            <a:r>
              <a:rPr sz="1000" dirty="0" err="1"/>
              <a:t>EvolveDTree</a:t>
            </a:r>
            <a:r>
              <a:rPr sz="1000" dirty="0"/>
              <a:t>: Analyzing Student Dropout in Universities,” IEEE IWSSIP, 2020. doi:10.1109/IWSSIP48289.2020.9145203.</a:t>
            </a:r>
            <a:br>
              <a:rPr sz="1000" dirty="0"/>
            </a:br>
            <a:r>
              <a:rPr sz="1000" dirty="0"/>
              <a:t>[11] J. </a:t>
            </a:r>
            <a:r>
              <a:rPr sz="1000" dirty="0" err="1"/>
              <a:t>Niyogisubizo</a:t>
            </a:r>
            <a:r>
              <a:rPr sz="1000" dirty="0"/>
              <a:t> et al., “Predicting student’s dropout in university classes using two-layer ensemble machine learning approach: a novel stacked generalization,” Computers &amp; Education: AI, 3, 100066, 2022. doi:10.1016/j.caeai.2022.100066.</a:t>
            </a:r>
            <a:br>
              <a:rPr sz="1000" dirty="0"/>
            </a:br>
            <a:r>
              <a:rPr sz="1000" dirty="0"/>
              <a:t>[12] F. A. Bello et al., “Using machine learning methods to identify significant variables for the prediction of first-year Informatics Engineering students dropout,” IEEE SCCC, 2020. doi:10.1109/SCCC51225.2020.9281280.</a:t>
            </a:r>
            <a:br>
              <a:rPr sz="1000" dirty="0"/>
            </a:br>
            <a:r>
              <a:rPr sz="1000" dirty="0"/>
              <a:t>[13] P. D. Gil et al., “A data-driven approach to predict first-year students’ academic success in higher education institutions,” Education and Information Technologies, 26, 2165–2190, 2021. doi:10.1007/s10639-020-10346-6.</a:t>
            </a:r>
            <a:br>
              <a:rPr sz="1000" dirty="0"/>
            </a:br>
            <a:r>
              <a:rPr sz="1000" dirty="0"/>
              <a:t>[14] T.-T. Huynh-Cam, L.-S. Chen, H. Le, “Using Decision Trees and Random Forest Algorithms to Predict and Determine Factors Contributing to First-Year University Students’ Learning Performance,” Algorithms, 14, 318, 2021. doi:10.3390/a14110318.</a:t>
            </a:r>
            <a:br>
              <a:rPr sz="1000" dirty="0"/>
            </a:br>
            <a:r>
              <a:rPr sz="1000" dirty="0"/>
              <a:t>[15] H. </a:t>
            </a:r>
            <a:r>
              <a:rPr sz="1000" dirty="0" err="1"/>
              <a:t>Zeineddine</a:t>
            </a:r>
            <a:r>
              <a:rPr sz="1000" dirty="0"/>
              <a:t>, U. Braendle, A. Farah, “Enhancing prediction of student success: automated machine learning approach,” Computers &amp; Electrical Engineering, 89, 106903, 2021. doi:10.1016/j.compeleceng.2020.106903.</a:t>
            </a:r>
            <a:br>
              <a:rPr sz="1000" dirty="0"/>
            </a:br>
            <a:r>
              <a:rPr sz="1000" dirty="0"/>
              <a:t>[16] W. </a:t>
            </a:r>
            <a:r>
              <a:rPr sz="1000" dirty="0" err="1"/>
              <a:t>Nuankaew</a:t>
            </a:r>
            <a:r>
              <a:rPr sz="1000" dirty="0"/>
              <a:t>, J. </a:t>
            </a:r>
            <a:r>
              <a:rPr sz="1000" dirty="0" err="1"/>
              <a:t>Thongkam</a:t>
            </a:r>
            <a:r>
              <a:rPr sz="1000" dirty="0"/>
              <a:t>, “Improving student academic performance prediction models using feature selection,” ECTI-CON, pp.392–395, 2020. doi:10.1109/ECTI-CON49241.2020.9158286.</a:t>
            </a:r>
            <a:br>
              <a:rPr sz="1000" dirty="0"/>
            </a:br>
            <a:r>
              <a:rPr sz="1000" dirty="0"/>
              <a:t>[17] T. </a:t>
            </a:r>
            <a:r>
              <a:rPr sz="1000" dirty="0" err="1"/>
              <a:t>Doleck</a:t>
            </a:r>
            <a:r>
              <a:rPr sz="1000" dirty="0"/>
              <a:t>, D. J. Lemay, R. B. Basnet, P. Bazelais, “Predictive analytics in education: a comparison of deep learning frameworks,” Education and Information Technologies, 25, 1951–1963, 2020. doi:10.1007/s10639-019-10068-4.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800" b="1" dirty="0"/>
              <a:t>Student Exam Score Predictor</a:t>
            </a:r>
            <a:br>
              <a:rPr dirty="0"/>
            </a:br>
            <a:br>
              <a:rPr dirty="0"/>
            </a:br>
            <a:r>
              <a:rPr sz="2800" b="1" dirty="0"/>
              <a:t>THANK YOU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14-09-2026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2900</Words>
  <Application>Microsoft Office PowerPoint</Application>
  <PresentationFormat>Widescreen</PresentationFormat>
  <Paragraphs>327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1/INDUSTRIAL INTERNSHIP/ INDUSTRIAL INTERNSHIP PHASE-I  Student Exam Score Predictor</vt:lpstr>
      <vt:lpstr>OUTLINE</vt:lpstr>
      <vt:lpstr>Introduction</vt:lpstr>
      <vt:lpstr>Problem Statement</vt:lpstr>
      <vt:lpstr>Objectives </vt:lpstr>
      <vt:lpstr>Literature Survey</vt:lpstr>
      <vt:lpstr>Research Gap Identification</vt:lpstr>
      <vt:lpstr>PowerPoint Presentation</vt:lpstr>
      <vt:lpstr>Feasibility and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sk abdul sabbir</cp:lastModifiedBy>
  <cp:revision>190</cp:revision>
  <cp:lastPrinted>2025-06-24T13:51:00Z</cp:lastPrinted>
  <dcterms:created xsi:type="dcterms:W3CDTF">2022-05-20T10:20:00Z</dcterms:created>
  <dcterms:modified xsi:type="dcterms:W3CDTF">2026-09-14T19:15:33Z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